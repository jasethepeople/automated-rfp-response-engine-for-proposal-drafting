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00500" y="1285875"/>
            <a:ext cx="4572000" cy="1341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3"/>
              </a:lnSpc>
              <a:buNone/>
            </a:pPr>
            <a:r>
              <a:rPr lang="en-US" sz="44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RFP Proposal Response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71500" y="2953494"/>
            <a:ext cx="4114800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9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Enterprise Assurance, Risk, and Pricing/TCO Strategy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71500" y="3932634"/>
            <a:ext cx="411480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>
                    <a:alpha val="7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Manus AI · Executive Review · 20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75" y="428625"/>
            <a:ext cx="5000625" cy="4023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3"/>
              </a:lnSpc>
              <a:buNone/>
            </a:pPr>
            <a:r>
              <a:rPr lang="en-US" sz="44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The bid is structured for confidence—not unsupported claims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71500" y="2028825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0125" y="2000250"/>
            <a:ext cx="6000750" cy="801105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2000250"/>
            <a:ext cx="6000750" cy="801105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l" indent="0" marL="0">
              <a:lnSpc>
                <a:spcPct val="112013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proposal aligns </a:t>
            </a:r>
            <a:r>
              <a:rPr lang="en-US" sz="14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requirements, solution, delivery, </a:t>
            </a:r>
            <a:r>
              <a:rPr lang="en-US" sz="14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evidence, commercial controls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final approvals.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71500" y="3187117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0125" y="3158542"/>
            <a:ext cx="6000750" cy="1094501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00125" y="3158542"/>
            <a:ext cx="6000750" cy="1094501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l" indent="0" marL="0">
              <a:lnSpc>
                <a:spcPct val="112013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client-, bidder-, project-, team-, certification-,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performance-, and price-specific statement remains </a:t>
            </a:r>
            <a:r>
              <a:rPr lang="en-US" sz="14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source-gated until validated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71500" y="4638805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0125" y="4610230"/>
            <a:ext cx="6000750" cy="1094501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00125" y="4610230"/>
            <a:ext cx="6000750" cy="1094501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l" indent="0" marL="0">
              <a:lnSpc>
                <a:spcPct val="112013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executive decision is to </a:t>
            </a:r>
            <a:r>
              <a:rPr lang="en-US" sz="14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authorize evidence </a:t>
            </a:r>
            <a:r>
              <a:rPr lang="en-US" sz="14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completion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commercial normalization, and final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submission controls.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0" y="428625"/>
            <a:ext cx="5715000" cy="2682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3"/>
              </a:lnSpc>
              <a:buNone/>
            </a:pPr>
            <a:r>
              <a:rPr lang="en-US" sz="44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Requirement traceability turns evaluation criteria into win themes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1428750" y="2500313"/>
            <a:ext cx="428625" cy="428625"/>
          </a:xfrm>
          <a:prstGeom prst="ellipse">
            <a:avLst/>
          </a:prstGeom>
          <a:solidFill>
            <a:srgbClr val="EAECEF"/>
          </a:solidFill>
          <a:ln w="36576">
            <a:solidFill>
              <a:srgbClr val="E05A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28750" y="2500313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28625" y="3143250"/>
            <a:ext cx="2428875" cy="20370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3143250"/>
            <a:ext cx="42863" cy="2037085"/>
          </a:xfrm>
          <a:prstGeom prst="rect">
            <a:avLst/>
          </a:prstGeom>
          <a:solidFill>
            <a:srgbClr val="4A154B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3143250"/>
            <a:ext cx="2428875" cy="2037085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Capture </a:t>
            </a:r>
            <a:r>
              <a:rPr lang="en-US" sz="120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mandatory </a:t>
            </a:r>
            <a:r>
              <a:rPr lang="en-US" sz="120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questions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evaluation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weights, technical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specifications,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commercial conditions,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and submission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instructions.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57688" y="2500313"/>
            <a:ext cx="428625" cy="428625"/>
          </a:xfrm>
          <a:prstGeom prst="ellipse">
            <a:avLst/>
          </a:prstGeom>
          <a:solidFill>
            <a:srgbClr val="EAECEF"/>
          </a:solidFill>
          <a:ln w="36576">
            <a:solidFill>
              <a:srgbClr val="E05A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57688" y="2500313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57563" y="3143250"/>
            <a:ext cx="2428875" cy="15571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357563" y="3143250"/>
            <a:ext cx="42863" cy="1557114"/>
          </a:xfrm>
          <a:prstGeom prst="rect">
            <a:avLst/>
          </a:prstGeom>
          <a:solidFill>
            <a:srgbClr val="4A154B"/>
          </a:solidFill>
          <a:ln/>
        </p:spPr>
      </p:sp>
      <p:sp>
        <p:nvSpPr>
          <p:cNvPr id="13" name="Text 10"/>
          <p:cNvSpPr/>
          <p:nvPr/>
        </p:nvSpPr>
        <p:spPr>
          <a:xfrm>
            <a:off x="3357563" y="3143250"/>
            <a:ext cx="2428875" cy="1557114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Assign every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requirement a </a:t>
            </a:r>
            <a:r>
              <a:rPr lang="en-US" sz="120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response </a:t>
            </a:r>
            <a:r>
              <a:rPr lang="en-US" sz="120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owner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source artifact,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approval path, and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proposal location.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286625" y="2500313"/>
            <a:ext cx="428625" cy="428625"/>
          </a:xfrm>
          <a:prstGeom prst="ellipse">
            <a:avLst/>
          </a:prstGeom>
          <a:solidFill>
            <a:srgbClr val="EAECEF"/>
          </a:solidFill>
          <a:ln w="36576">
            <a:solidFill>
              <a:srgbClr val="E05A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86625" y="2500313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86500" y="3143250"/>
            <a:ext cx="2428875" cy="17971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286500" y="3143250"/>
            <a:ext cx="42863" cy="1797100"/>
          </a:xfrm>
          <a:prstGeom prst="rect">
            <a:avLst/>
          </a:prstGeom>
          <a:solidFill>
            <a:srgbClr val="4A154B"/>
          </a:solidFill>
          <a:ln/>
        </p:spPr>
      </p:sp>
      <p:sp>
        <p:nvSpPr>
          <p:cNvPr id="18" name="Text 15"/>
          <p:cNvSpPr/>
          <p:nvPr/>
        </p:nvSpPr>
        <p:spPr>
          <a:xfrm>
            <a:off x="6286500" y="3143250"/>
            <a:ext cx="2428875" cy="1797100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 a </a:t>
            </a:r>
            <a:r>
              <a:rPr lang="en-US" sz="120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clarification log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to resolve scope,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evidence, commercial-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format, and contract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ambiguities before </a:t>
            </a:r>
            <a:r>
              <a:rPr lang="en-US" sz="12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submission.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9063" y="428625"/>
            <a:ext cx="4643438" cy="2682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3"/>
              </a:lnSpc>
              <a:buNone/>
            </a:pPr>
            <a:r>
              <a:rPr lang="en-US" sz="44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Enterprise assurance is a bid differentiator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71500" y="1600200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0125" y="1571625"/>
            <a:ext cx="5643563" cy="1014301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000125" y="1571625"/>
            <a:ext cx="28575" cy="1014301"/>
          </a:xfrm>
          <a:prstGeom prst="rect">
            <a:avLst/>
          </a:prstGeom>
          <a:solidFill>
            <a:srgbClr val="4A154B"/>
          </a:solidFill>
          <a:ln/>
        </p:spPr>
      </p:sp>
      <p:sp>
        <p:nvSpPr>
          <p:cNvPr id="7" name="Text 4"/>
          <p:cNvSpPr/>
          <p:nvPr/>
        </p:nvSpPr>
        <p:spPr>
          <a:xfrm>
            <a:off x="1000125" y="1571625"/>
            <a:ext cx="5643563" cy="1014301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l" indent="0" marL="0">
              <a:lnSpc>
                <a:spcPct val="111986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Address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identity, secure engineering, privacy,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resilience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integration, auditability, quality, accessibility, 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controls, and supplier governance.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1500" y="2935970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00125" y="2907395"/>
            <a:ext cx="5643563" cy="74763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00125" y="2907395"/>
            <a:ext cx="28575" cy="747638"/>
          </a:xfrm>
          <a:prstGeom prst="rect">
            <a:avLst/>
          </a:prstGeom>
          <a:solidFill>
            <a:srgbClr val="4A154B"/>
          </a:solidFill>
          <a:ln/>
        </p:spPr>
      </p:sp>
      <p:sp>
        <p:nvSpPr>
          <p:cNvPr id="11" name="Text 8"/>
          <p:cNvSpPr/>
          <p:nvPr/>
        </p:nvSpPr>
        <p:spPr>
          <a:xfrm>
            <a:off x="1000125" y="2907395"/>
            <a:ext cx="5643563" cy="747638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l" indent="0" marL="0">
              <a:lnSpc>
                <a:spcPct val="111986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Link each assurance claim to a specific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control, evidence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artifact, legal entity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validity period, and approver.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1500" y="4005076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0125" y="3976501"/>
            <a:ext cx="5643563" cy="74763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00125" y="3976501"/>
            <a:ext cx="28575" cy="747638"/>
          </a:xfrm>
          <a:prstGeom prst="rect">
            <a:avLst/>
          </a:prstGeom>
          <a:solidFill>
            <a:srgbClr val="4A154B"/>
          </a:solidFill>
          <a:ln/>
        </p:spPr>
      </p:sp>
      <p:sp>
        <p:nvSpPr>
          <p:cNvPr id="15" name="Text 12"/>
          <p:cNvSpPr/>
          <p:nvPr/>
        </p:nvSpPr>
        <p:spPr>
          <a:xfrm>
            <a:off x="1000125" y="3976501"/>
            <a:ext cx="5643563" cy="747638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l" indent="0" marL="0">
              <a:lnSpc>
                <a:spcPct val="111986"/>
              </a:lnSpc>
              <a:buNone/>
            </a:pP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Escalate any unmet certification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policy, data-location, 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 subcontractor obligation before submission.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0" y="428625"/>
            <a:ext cx="4286250" cy="4023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3"/>
              </a:lnSpc>
              <a:buNone/>
            </a:pPr>
            <a:r>
              <a:rPr lang="en-US" sz="44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The risk register protects delivery and commercial credibility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71500" y="1571625"/>
            <a:ext cx="3786188" cy="2368153"/>
          </a:xfrm>
          <a:prstGeom prst="rect">
            <a:avLst/>
          </a:prstGeom>
          <a:solidFill>
            <a:srgbClr val="EAECE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571625"/>
            <a:ext cx="57150" cy="2368153"/>
          </a:xfrm>
          <a:prstGeom prst="rect">
            <a:avLst/>
          </a:prstGeom>
          <a:solidFill>
            <a:srgbClr val="E05A47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1785938"/>
            <a:ext cx="3357563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Controlled Risk Domains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5813" y="2260997"/>
            <a:ext cx="85725" cy="85725"/>
          </a:xfrm>
          <a:prstGeom prst="ellipse">
            <a:avLst/>
          </a:prstGeom>
          <a:solidFill>
            <a:srgbClr val="E05A47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2203847"/>
            <a:ext cx="1625203" cy="18216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Source-evidence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18172" y="2260997"/>
            <a:ext cx="85725" cy="85725"/>
          </a:xfrm>
          <a:prstGeom prst="ellipse">
            <a:avLst/>
          </a:prstGeom>
          <a:solidFill>
            <a:srgbClr val="E05A47"/>
          </a:solidFill>
          <a:ln/>
        </p:spPr>
      </p:sp>
      <p:sp>
        <p:nvSpPr>
          <p:cNvPr id="10" name="Text 7"/>
          <p:cNvSpPr/>
          <p:nvPr/>
        </p:nvSpPr>
        <p:spPr>
          <a:xfrm>
            <a:off x="2518172" y="2203847"/>
            <a:ext cx="1625203" cy="18216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Security &amp; Privacy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5813" y="2550319"/>
            <a:ext cx="85725" cy="85725"/>
          </a:xfrm>
          <a:prstGeom prst="ellipse">
            <a:avLst/>
          </a:prstGeom>
          <a:solidFill>
            <a:srgbClr val="E05A47"/>
          </a:solidFill>
          <a:ln/>
        </p:spPr>
      </p:sp>
      <p:sp>
        <p:nvSpPr>
          <p:cNvPr id="12" name="Text 9"/>
          <p:cNvSpPr/>
          <p:nvPr/>
        </p:nvSpPr>
        <p:spPr>
          <a:xfrm>
            <a:off x="785813" y="2493169"/>
            <a:ext cx="1625203" cy="36433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Integration &amp; Migration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18172" y="2550319"/>
            <a:ext cx="85725" cy="85725"/>
          </a:xfrm>
          <a:prstGeom prst="ellipse">
            <a:avLst/>
          </a:prstGeom>
          <a:solidFill>
            <a:srgbClr val="E05A47"/>
          </a:solidFill>
          <a:ln/>
        </p:spPr>
      </p:sp>
      <p:sp>
        <p:nvSpPr>
          <p:cNvPr id="14" name="Text 11"/>
          <p:cNvSpPr/>
          <p:nvPr/>
        </p:nvSpPr>
        <p:spPr>
          <a:xfrm>
            <a:off x="2518172" y="2493169"/>
            <a:ext cx="1625203" cy="36433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Performance &amp; Recovery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5813" y="3021806"/>
            <a:ext cx="85725" cy="85725"/>
          </a:xfrm>
          <a:prstGeom prst="ellipse">
            <a:avLst/>
          </a:prstGeom>
          <a:solidFill>
            <a:srgbClr val="E05A47"/>
          </a:solidFill>
          <a:ln/>
        </p:spPr>
      </p:sp>
      <p:sp>
        <p:nvSpPr>
          <p:cNvPr id="16" name="Text 13"/>
          <p:cNvSpPr/>
          <p:nvPr/>
        </p:nvSpPr>
        <p:spPr>
          <a:xfrm>
            <a:off x="785813" y="2964656"/>
            <a:ext cx="1625203" cy="18216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Third-party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18172" y="3021806"/>
            <a:ext cx="85725" cy="85725"/>
          </a:xfrm>
          <a:prstGeom prst="ellipse">
            <a:avLst/>
          </a:prstGeom>
          <a:solidFill>
            <a:srgbClr val="E05A47"/>
          </a:solidFill>
          <a:ln/>
        </p:spPr>
      </p:sp>
      <p:sp>
        <p:nvSpPr>
          <p:cNvPr id="18" name="Text 15"/>
          <p:cNvSpPr/>
          <p:nvPr/>
        </p:nvSpPr>
        <p:spPr>
          <a:xfrm>
            <a:off x="2518172" y="2964656"/>
            <a:ext cx="1625203" cy="18216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Adoption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5813" y="3311128"/>
            <a:ext cx="85725" cy="85725"/>
          </a:xfrm>
          <a:prstGeom prst="ellipse">
            <a:avLst/>
          </a:prstGeom>
          <a:solidFill>
            <a:srgbClr val="E05A47"/>
          </a:solidFill>
          <a:ln/>
        </p:spPr>
      </p:sp>
      <p:sp>
        <p:nvSpPr>
          <p:cNvPr id="20" name="Text 17"/>
          <p:cNvSpPr/>
          <p:nvPr/>
        </p:nvSpPr>
        <p:spPr>
          <a:xfrm>
            <a:off x="785813" y="3253978"/>
            <a:ext cx="1625203" cy="18216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Legal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518172" y="3311128"/>
            <a:ext cx="85725" cy="85725"/>
          </a:xfrm>
          <a:prstGeom prst="ellipse">
            <a:avLst/>
          </a:prstGeom>
          <a:solidFill>
            <a:srgbClr val="E05A47"/>
          </a:solidFill>
          <a:ln/>
        </p:spPr>
      </p:sp>
      <p:sp>
        <p:nvSpPr>
          <p:cNvPr id="22" name="Text 19"/>
          <p:cNvSpPr/>
          <p:nvPr/>
        </p:nvSpPr>
        <p:spPr>
          <a:xfrm>
            <a:off x="2518172" y="3253978"/>
            <a:ext cx="1625203" cy="18216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Portability &amp; Exit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85813" y="3600450"/>
            <a:ext cx="85725" cy="85725"/>
          </a:xfrm>
          <a:prstGeom prst="ellipse">
            <a:avLst/>
          </a:prstGeom>
          <a:solidFill>
            <a:srgbClr val="E05A47"/>
          </a:solidFill>
          <a:ln/>
        </p:spPr>
      </p:sp>
      <p:sp>
        <p:nvSpPr>
          <p:cNvPr id="24" name="Text 21"/>
          <p:cNvSpPr/>
          <p:nvPr/>
        </p:nvSpPr>
        <p:spPr>
          <a:xfrm>
            <a:off x="785813" y="3543300"/>
            <a:ext cx="1625203" cy="18216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Governance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71500" y="4082653"/>
            <a:ext cx="3786188" cy="917972"/>
          </a:xfrm>
          <a:prstGeom prst="rect">
            <a:avLst/>
          </a:prstGeom>
          <a:solidFill>
            <a:srgbClr val="4A154B"/>
          </a:solidFill>
          <a:ln/>
        </p:spPr>
      </p:sp>
      <p:sp>
        <p:nvSpPr>
          <p:cNvPr id="26" name="Shape 23"/>
          <p:cNvSpPr/>
          <p:nvPr/>
        </p:nvSpPr>
        <p:spPr>
          <a:xfrm>
            <a:off x="571500" y="4082653"/>
            <a:ext cx="57150" cy="917972"/>
          </a:xfrm>
          <a:prstGeom prst="rect">
            <a:avLst/>
          </a:prstGeom>
          <a:solidFill>
            <a:srgbClr val="E05A47"/>
          </a:solidFill>
          <a:ln/>
        </p:spPr>
      </p:sp>
      <p:sp>
        <p:nvSpPr>
          <p:cNvPr id="27" name="Text 24"/>
          <p:cNvSpPr/>
          <p:nvPr/>
        </p:nvSpPr>
        <p:spPr>
          <a:xfrm>
            <a:off x="571500" y="4082653"/>
            <a:ext cx="3786188" cy="91797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Treat scope gaps, unresolved </a:t>
            </a: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dependencies, and unapproved </a:t>
            </a: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exceptions as </a:t>
            </a:r>
            <a:r>
              <a:rPr lang="en-US" sz="120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bid-go/no-go issues</a:t>
            </a: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786313" y="1714500"/>
            <a:ext cx="285750" cy="2857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4A154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86375" y="1714500"/>
            <a:ext cx="3286125" cy="117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13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Translate each risk into a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specific </a:t>
            </a:r>
            <a:r>
              <a:rPr lang="en-US" sz="145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procurement question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to ensure alignment with client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expectations.</a:t>
            </a:r>
            <a:endParaRPr lang="en-US" sz="1550" dirty="0"/>
          </a:p>
        </p:txBody>
      </p:sp>
      <p:sp>
        <p:nvSpPr>
          <p:cNvPr id="30" name="Shape 27"/>
          <p:cNvSpPr/>
          <p:nvPr/>
        </p:nvSpPr>
        <p:spPr>
          <a:xfrm>
            <a:off x="4786313" y="3316709"/>
            <a:ext cx="285750" cy="2857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4A154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286375" y="3316709"/>
            <a:ext cx="3286125" cy="880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13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Define a concrete </a:t>
            </a:r>
            <a:r>
              <a:rPr lang="en-US" sz="145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mitigation </a:t>
            </a:r>
            <a:r>
              <a:rPr lang="en-US" sz="145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action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every identified risk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before submission.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4786313" y="4625522"/>
            <a:ext cx="285750" cy="28575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4A154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86375" y="4625522"/>
            <a:ext cx="3286125" cy="880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13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Assign an </a:t>
            </a:r>
            <a:r>
              <a:rPr lang="en-US" sz="145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accountable owner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to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manage and sign off on each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risk domain.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86313" y="571500"/>
            <a:ext cx="3929063" cy="3352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3"/>
              </a:lnSpc>
              <a:buNone/>
            </a:pPr>
            <a:r>
              <a:rPr lang="en-US" sz="44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Headline license price is not a competitive conclusion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71500" y="1485900"/>
            <a:ext cx="228600" cy="2286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125" y="1428750"/>
            <a:ext cx="4214813" cy="880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13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current source set contains </a:t>
            </a:r>
            <a:r>
              <a:rPr lang="en-US" sz="145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 </a:t>
            </a:r>
            <a:r>
              <a:rPr lang="en-US" sz="145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approved pricing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quantity, term,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competitor quote, or incumbent baseline.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71500" y="2723276"/>
            <a:ext cx="228600" cy="2286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0125" y="2666126"/>
            <a:ext cx="4214813" cy="880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13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It is therefore </a:t>
            </a:r>
            <a:r>
              <a:rPr lang="en-US" sz="14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not defensible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to claim that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bid is below market or the most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competitive.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71500" y="3960651"/>
            <a:ext cx="228600" cy="2286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0125" y="3903501"/>
            <a:ext cx="4214813" cy="117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13"/>
              </a:lnSpc>
              <a:buNone/>
            </a:pP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Position the proposal on </a:t>
            </a:r>
            <a:r>
              <a:rPr lang="en-US" sz="14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transparency, </a:t>
            </a:r>
            <a:r>
              <a:rPr lang="en-US" sz="14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consumption control, cost-risk </a:t>
            </a:r>
            <a:r>
              <a:rPr lang="en-US" sz="14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allocation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lifecycle-cost disclosure </a:t>
            </a:r>
            <a:r>
              <a:rPr lang="en-US" sz="155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until comparable data is available.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0" y="571500"/>
            <a:ext cx="4286250" cy="4693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3"/>
              </a:lnSpc>
              <a:buNone/>
            </a:pPr>
            <a:r>
              <a:rPr lang="en-US" sz="44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Five-year TCO makes the commercial case decision-ready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71500" y="742950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125" y="714375"/>
            <a:ext cx="42148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Contract Charges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000125" y="982266"/>
            <a:ext cx="4214813" cy="56960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00125" y="982266"/>
            <a:ext cx="28575" cy="569602"/>
          </a:xfrm>
          <a:prstGeom prst="rect">
            <a:avLst/>
          </a:prstGeom>
          <a:solidFill>
            <a:srgbClr val="E05A47"/>
          </a:solidFill>
          <a:ln/>
        </p:spPr>
      </p:sp>
      <p:sp>
        <p:nvSpPr>
          <p:cNvPr id="8" name="Text 5"/>
          <p:cNvSpPr/>
          <p:nvPr/>
        </p:nvSpPr>
        <p:spPr>
          <a:xfrm>
            <a:off x="1000125" y="982266"/>
            <a:ext cx="4214813" cy="56960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ct val="112018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Subscription, licensing, usage, committed volume, overages, and price protection.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1500" y="1866193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0125" y="1837618"/>
            <a:ext cx="42148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One-Time Delivery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1000125" y="2105509"/>
            <a:ext cx="4214813" cy="56960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000125" y="2105509"/>
            <a:ext cx="28575" cy="569602"/>
          </a:xfrm>
          <a:prstGeom prst="rect">
            <a:avLst/>
          </a:prstGeom>
          <a:solidFill>
            <a:srgbClr val="E05A47"/>
          </a:solidFill>
          <a:ln/>
        </p:spPr>
      </p:sp>
      <p:sp>
        <p:nvSpPr>
          <p:cNvPr id="13" name="Text 10"/>
          <p:cNvSpPr/>
          <p:nvPr/>
        </p:nvSpPr>
        <p:spPr>
          <a:xfrm>
            <a:off x="1000125" y="2105509"/>
            <a:ext cx="4214813" cy="56960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ct val="112018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Configuration, integration, migration, testing, training, change, and governance.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71500" y="2989436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0125" y="2960861"/>
            <a:ext cx="42148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Lifecycle Operations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000125" y="3228752"/>
            <a:ext cx="4214813" cy="56960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00125" y="3228752"/>
            <a:ext cx="28575" cy="569602"/>
          </a:xfrm>
          <a:prstGeom prst="rect">
            <a:avLst/>
          </a:prstGeom>
          <a:solidFill>
            <a:srgbClr val="E05A47"/>
          </a:solidFill>
          <a:ln/>
        </p:spPr>
      </p:sp>
      <p:sp>
        <p:nvSpPr>
          <p:cNvPr id="18" name="Text 15"/>
          <p:cNvSpPr/>
          <p:nvPr/>
        </p:nvSpPr>
        <p:spPr>
          <a:xfrm>
            <a:off x="1000125" y="3228752"/>
            <a:ext cx="4214813" cy="56960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ct val="112018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Support, security, internal administration, third-party consumption, renewal, and exit.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1500" y="4112679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0125" y="4084104"/>
            <a:ext cx="42148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Decision Rule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000125" y="4351995"/>
            <a:ext cx="4214813" cy="569602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000125" y="4351995"/>
            <a:ext cx="28575" cy="569602"/>
          </a:xfrm>
          <a:prstGeom prst="rect">
            <a:avLst/>
          </a:prstGeom>
          <a:solidFill>
            <a:srgbClr val="E05A47"/>
          </a:solidFill>
          <a:ln/>
        </p:spPr>
      </p:sp>
      <p:sp>
        <p:nvSpPr>
          <p:cNvPr id="23" name="Text 20"/>
          <p:cNvSpPr/>
          <p:nvPr/>
        </p:nvSpPr>
        <p:spPr>
          <a:xfrm>
            <a:off x="1000125" y="4351995"/>
            <a:ext cx="4214813" cy="569602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lnSpc>
                <a:spcPct val="112018"/>
              </a:lnSpc>
              <a:buNone/>
            </a:pP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Display contingencies separately; </a:t>
            </a:r>
            <a:r>
              <a:rPr lang="en-US" sz="105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do not bury risk </a:t>
            </a:r>
            <a:r>
              <a:rPr lang="en-US" sz="1050" b="1" dirty="0">
                <a:solidFill>
                  <a:srgbClr val="E05A47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costs</a:t>
            </a:r>
            <a:r>
              <a:rPr lang="en-US" sz="11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 headline price.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14688" y="428625"/>
            <a:ext cx="5357813" cy="2682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3"/>
              </a:lnSpc>
              <a:buNone/>
            </a:pPr>
            <a:r>
              <a:rPr lang="en-US" sz="44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Benchmark only normalized commercial comparators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71500" y="1885950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0125" y="1857375"/>
            <a:ext cx="5643563" cy="1014301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00125" y="1857375"/>
            <a:ext cx="5643563" cy="1014301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l" indent="0" marL="0">
              <a:lnSpc>
                <a:spcPct val="111986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Compare the same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buying unit, included modules,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committed volume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service level, deployment model, 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geography, term, and lifecycle scope.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1500" y="3186001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0125" y="3157426"/>
            <a:ext cx="5643563" cy="1014301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00125" y="3157426"/>
            <a:ext cx="5643563" cy="1014301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l" indent="0" marL="0">
              <a:lnSpc>
                <a:spcPct val="111986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Require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verifiable comparator evidence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: comparable 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bids, a procurement benchmark, or incumbent-cost 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baseline.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1500" y="4486052"/>
            <a:ext cx="228600" cy="228600"/>
          </a:xfrm>
          <a:prstGeom prst="ellipse">
            <a:avLst/>
          </a:prstGeom>
          <a:solidFill>
            <a:srgbClr val="EAECE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0125" y="4457477"/>
            <a:ext cx="5643563" cy="747638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00125" y="4457477"/>
            <a:ext cx="5643563" cy="747638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l" indent="0" marL="0">
              <a:lnSpc>
                <a:spcPct val="111986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 not use a favorable headline price to mask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renewal,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true-up, lock-in, data-egress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or transition exposure.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1500" y="4145273"/>
            <a:ext cx="8001000" cy="712477"/>
          </a:xfrm>
          <a:prstGeom prst="rect">
            <a:avLst/>
          </a:prstGeom>
          <a:solidFill>
            <a:srgbClr val="4A154B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4145273"/>
            <a:ext cx="57150" cy="712477"/>
          </a:xfrm>
          <a:prstGeom prst="rect">
            <a:avLst/>
          </a:prstGeom>
          <a:solidFill>
            <a:srgbClr val="E05A47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4145273"/>
            <a:ext cx="8001000" cy="712477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algn="l" indent="0" marL="0">
              <a:lnSpc>
                <a:spcPct val="112018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Benchmark framework informed by public lifecycle-TCO and SaaS-procurement guidance. Detailed sources and limitations are retained in the supporting review.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25" y="428625"/>
            <a:ext cx="4286250" cy="4023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88003"/>
              </a:lnSpc>
              <a:buNone/>
            </a:pPr>
            <a:r>
              <a:rPr lang="en-US" sz="440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Final submission requires a single integrated gate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71500" y="1743075"/>
            <a:ext cx="228600" cy="2286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0125" y="1714500"/>
            <a:ext cx="4929188" cy="79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1986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Complete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RFP intake, evidence validation,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assurance mapping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pricing/TCO model, legal review, 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delivery readiness, and executive approval.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1500" y="2828813"/>
            <a:ext cx="228600" cy="2286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0125" y="2800238"/>
            <a:ext cx="4929188" cy="5333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1986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Finalize the value narrative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only after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the RFP and 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approved repository evidence are received.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71500" y="3647889"/>
            <a:ext cx="228600" cy="22860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E05A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0125" y="3619314"/>
            <a:ext cx="4929188" cy="79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1986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Proceed to submission only when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traceability, </a:t>
            </a:r>
            <a:r>
              <a:rPr lang="en-US" sz="1350" b="1" dirty="0">
                <a:solidFill>
                  <a:srgbClr val="4A154B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compliance, commercial position, and ownership</a:t>
            </a:r>
            <a:r>
              <a:rPr lang="en-US" sz="1400" dirty="0">
                <a:solidFill>
                  <a:srgbClr val="11111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are complete.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8625" y="3993356"/>
            <a:ext cx="8286750" cy="864394"/>
          </a:xfrm>
          <a:prstGeom prst="rect">
            <a:avLst/>
          </a:prstGeom>
          <a:solidFill>
            <a:srgbClr val="E05A47"/>
          </a:solidFill>
          <a:ln/>
        </p:spPr>
      </p:sp>
      <p:sp>
        <p:nvSpPr>
          <p:cNvPr id="11" name="Shape 8"/>
          <p:cNvSpPr/>
          <p:nvPr/>
        </p:nvSpPr>
        <p:spPr>
          <a:xfrm>
            <a:off x="428625" y="3993356"/>
            <a:ext cx="85725" cy="864394"/>
          </a:xfrm>
          <a:prstGeom prst="rect">
            <a:avLst/>
          </a:prstGeom>
          <a:solidFill>
            <a:srgbClr val="4A154B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3993356"/>
            <a:ext cx="8286750" cy="864394"/>
          </a:xfrm>
          <a:prstGeom prst="rect">
            <a:avLst/>
          </a:prstGeom>
          <a:noFill/>
          <a:ln/>
        </p:spPr>
        <p:txBody>
          <a:bodyPr wrap="square" lIns="255143" tIns="212598" rIns="255143" bIns="212598" rtlCol="0" anchor="t">
            <a:sp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Requested executive action: authorize the source-validation and pricing-normalization workstream.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2026-08-21T07:41:32Z</dcterms:created>
  <dcterms:modified xsi:type="dcterms:W3CDTF">2026-08-21T07:41:32Z</dcterms:modified>
</cp:coreProperties>
</file>